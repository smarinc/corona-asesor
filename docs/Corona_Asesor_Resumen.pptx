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773061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4800" b="1" i="0">
                <a:solidFill>
                  <a:srgbClr val="1F1B18"/>
                </a:solidFill>
                <a:latin typeface="Georgia"/>
              </a:rPr>
              <a:t>Corona Asesor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6E665C"/>
                </a:solidFill>
                <a:latin typeface="Calibri"/>
              </a:rPr>
              <a:t>Un agente que planea instalaciones de piso completas — productos, cantidades y presupuesto — sin inventar un solo dato.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663440"/>
            <a:ext cx="10545775" cy="0"/>
          </a:xfrm>
          <a:prstGeom prst="line">
            <a:avLst/>
          </a:prstGeom>
          <a:ln w="9525">
            <a:solidFill>
              <a:srgbClr val="D8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65C"/>
                </a:solidFill>
                <a:latin typeface="Calibri"/>
              </a:rPr>
              <a:t>Propuesta interna · Corona Colombia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4B8D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3200" b="1" i="0">
                <a:solidFill>
                  <a:srgbClr val="1F1B18"/>
                </a:solidFill>
                <a:latin typeface="Georgia"/>
              </a:rPr>
              <a:t>Hoy el cliente compra piso a ciegas.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500" b="0" i="0">
                <a:solidFill>
                  <a:srgbClr val="1F1B18"/>
                </a:solidFill>
                <a:latin typeface="Calibri"/>
              </a:rPr>
              <a:t>—  No sabe cuántas cajas necesita, ni si el pegante y la boquilla que eligió sirven para su espacio.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500" b="0" i="0">
                <a:solidFill>
                  <a:srgbClr val="1F1B18"/>
                </a:solidFill>
                <a:latin typeface="Calibri"/>
              </a:rPr>
              <a:t>—  El resultado: compra de más o de menos, combinaciones incompatibles, y presupuestos que se disparan.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</a:pPr>
            <a:r>
              <a:rPr sz="1500" b="0" i="0">
                <a:solidFill>
                  <a:srgbClr val="1F1B18"/>
                </a:solidFill>
                <a:latin typeface="Calibri"/>
              </a:rPr>
              <a:t>—  El asesor de tienda no siempre está disponible cuando el cliente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65C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4B8D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800" b="1" i="0">
                <a:solidFill>
                  <a:srgbClr val="1F1B18"/>
                </a:solidFill>
                <a:latin typeface="Georgia"/>
              </a:rPr>
              <a:t>Un agente que calcula, valida y respalda con datos reales.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65C"/>
                </a:solidFill>
                <a:latin typeface="Calibri"/>
              </a:rPr>
              <a:t>El cliente describe su proyecto en lenguaje natural. El agente hace el resto: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4B8D"/>
                </a:solidFill>
                <a:latin typeface="Georgia"/>
              </a:rPr>
              <a:t>Calcula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898648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B18"/>
                </a:solidFill>
                <a:latin typeface="Calibri"/>
              </a:rPr>
              <a:t>el área exacta con desperdicio, y cuántas cajas, kilos de pegante y boquilla se necesitan.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3872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4B8D"/>
                </a:solidFill>
                <a:latin typeface="Georgia"/>
              </a:rPr>
              <a:t>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557016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B18"/>
                </a:solidFill>
                <a:latin typeface="Calibri"/>
              </a:rPr>
              <a:t>en el catálogo real de Corona (505 productos) las opciones que caben en el presupuesto.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9709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4B8D"/>
                </a:solidFill>
                <a:latin typeface="Georgia"/>
              </a:rPr>
              <a:t>Valida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15384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B18"/>
                </a:solidFill>
                <a:latin typeface="Calibri"/>
              </a:rPr>
              <a:t>que la combinación revestimiento + pegante + boquilla sea compatible con el espacio.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5546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04B8D"/>
                </a:solidFill>
                <a:latin typeface="Georgia"/>
              </a:rPr>
              <a:t>Respalda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873752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1B18"/>
                </a:solidFill>
                <a:latin typeface="Calibri"/>
              </a:rPr>
              <a:t>cada número con la ficha técnica real del producto — nunca con una suposición.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65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4B8D"/>
                </a:solidFill>
                <a:latin typeface="Calibri"/>
              </a:rPr>
              <a:t>POR QUÉ SE PUEDE CONFIAR EN ÉL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800" b="1" i="0">
                <a:solidFill>
                  <a:srgbClr val="1F1B18"/>
                </a:solidFill>
                <a:latin typeface="Georgia"/>
              </a:rPr>
              <a:t>Si el dato no existe, lo dice. No lo inventa.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601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50" b="0" i="0">
                <a:solidFill>
                  <a:srgbClr val="1F1B18"/>
                </a:solidFill>
                <a:latin typeface="Calibri"/>
              </a:rPr>
              <a:t>—  Precios y disponibilidad salen siempre del catálogo (DuckDB), nunca de la memoria del modelo.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50" b="0" i="0">
                <a:solidFill>
                  <a:srgbClr val="1F1B18"/>
                </a:solidFill>
                <a:latin typeface="Calibri"/>
              </a:rPr>
              <a:t>—  Cada cálculo corre en una función exacta, no en una estimación del modelo.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50" b="0" i="0">
                <a:solidFill>
                  <a:srgbClr val="1F1B18"/>
                </a:solidFill>
                <a:latin typeface="Calibri"/>
              </a:rPr>
              <a:t>—  Cuando falta un dato en el catálogo, lo marca como “Requiere revisión” y va a buscarlo en la ficha técnica.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526280"/>
            <a:ext cx="10545775" cy="0"/>
          </a:xfrm>
          <a:prstGeom prst="line">
            <a:avLst/>
          </a:prstGeom>
          <a:ln w="9525">
            <a:solidFill>
              <a:srgbClr val="D8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7548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65C"/>
                </a:solidFill>
                <a:latin typeface="Calibri"/>
              </a:rPr>
              <a:t>Para Corona, esto significa: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9784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600" b="0" i="1">
                <a:solidFill>
                  <a:srgbClr val="1F1B18"/>
                </a:solidFill>
                <a:latin typeface="Georgia"/>
              </a:rPr>
              <a:t>Menos devoluciones por combinaciones mal calculadas, y un asesor experto disponible las 24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65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9692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600" b="1" i="0">
                <a:solidFill>
                  <a:srgbClr val="1F1B18"/>
                </a:solidFill>
                <a:latin typeface="Georgia"/>
              </a:rPr>
              <a:t>Ya funciona sobre el catálogo real.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600" b="1" i="0">
                <a:solidFill>
                  <a:srgbClr val="1F1B18"/>
                </a:solidFill>
                <a:latin typeface="Georgia"/>
              </a:rPr>
              <a:t>El siguiente paso es llevarlo a un canal de Corona.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9525">
            <a:solidFill>
              <a:srgbClr val="D8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37490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4B8D"/>
                </a:solidFill>
                <a:latin typeface="Georgia"/>
              </a:rPr>
              <a:t>505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65C"/>
                </a:solidFill>
                <a:latin typeface="Calibri"/>
              </a:rPr>
              <a:t>productos reales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7490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4B8D"/>
                </a:solidFill>
                <a:latin typeface="Georgia"/>
              </a:rPr>
              <a:t>3.754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343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65C"/>
                </a:solidFill>
                <a:latin typeface="Calibri"/>
              </a:rPr>
              <a:t>fichas técnicas consultables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74903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04B8D"/>
                </a:solidFill>
                <a:latin typeface="Georgia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3434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65C"/>
                </a:solidFill>
                <a:latin typeface="Calibri"/>
              </a:rPr>
              <a:t>datos inventados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665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